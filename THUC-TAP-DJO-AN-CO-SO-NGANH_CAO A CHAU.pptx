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Default Extension="svg" ContentType="image/sv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19.12-->
<p:presentation xmlns:r="http://schemas.openxmlformats.org/officeDocument/2006/relationships" xmlns:a="http://schemas.openxmlformats.org/drawingml/2006/main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4630400" cy="8229600"/>
  <p:notesSz cx="8229600" cy="14630400"/>
  <p:embeddedFontLst>
    <p:embeddedFont>
      <p:font typeface="Petrona"/>
      <p:regular r:id="rId14"/>
    </p:embeddedFont>
    <p:embeddedFont>
      <p:font typeface="Inter"/>
      <p:regular r:id="rId15"/>
    </p:embeddedFont>
  </p:embeddedFontLst>
  <p:custDataLst>
    <p:tags r:id="rId13"/>
  </p:custDataLst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tags" Target="tags/tag1.xml" /><Relationship Id="rId14" Type="http://schemas.openxmlformats.org/officeDocument/2006/relationships/font" Target="fonts/font1.fntdata" /><Relationship Id="rId15" Type="http://schemas.openxmlformats.org/officeDocument/2006/relationships/font" Target="fonts/font5.fntdata" /><Relationship Id="rId16" Type="http://schemas.openxmlformats.org/officeDocument/2006/relationships/presProps" Target="presProps.xml" /><Relationship Id="rId17" Type="http://schemas.openxmlformats.org/officeDocument/2006/relationships/viewProps" Target="viewProps.xml" /><Relationship Id="rId18" Type="http://schemas.openxmlformats.org/officeDocument/2006/relationships/font" Target="fonts/font2.fntdata" /><Relationship Id="rId19" Type="http://schemas.openxmlformats.org/officeDocument/2006/relationships/font" Target="fonts/font3.fntdata" /><Relationship Id="rId2" Type="http://schemas.openxmlformats.org/officeDocument/2006/relationships/notesMaster" Target="notesMasters/notesMaster1.xml" /><Relationship Id="rId20" Type="http://schemas.openxmlformats.org/officeDocument/2006/relationships/font" Target="fonts/font4.fntdata" /><Relationship Id="rId21" Type="http://schemas.openxmlformats.org/officeDocument/2006/relationships/theme" Target="theme/theme1.xml" /><Relationship Id="rId22" Type="http://schemas.openxmlformats.org/officeDocument/2006/relationships/font" Target="fonts/font6.fntdata" /><Relationship Id="rId23" Type="http://schemas.openxmlformats.org/officeDocument/2006/relationships/font" Target="fonts/font7.fntdata" /><Relationship Id="rId24" Type="http://schemas.openxmlformats.org/officeDocument/2006/relationships/font" Target="fonts/font8.fntdata" /><Relationship Id="rId25" Type="http://schemas.openxmlformats.org/officeDocument/2006/relationships/tableStyles" Target="tableStyles.xml" /><Relationship Id="rId3" Type="http://schemas.openxmlformats.org/officeDocument/2006/relationships/slide" Target="slides/slide1.xml" /><Relationship Id="rId4" Type="http://schemas.openxmlformats.org/officeDocument/2006/relationships/slide" Target="slides/slide2.xml" /><Relationship Id="rId5" Type="http://schemas.openxmlformats.org/officeDocument/2006/relationships/slide" Target="slides/slide3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1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jpeg" /><Relationship Id="rId2" Type="http://schemas.openxmlformats.org/officeDocument/2006/relationships/image" Target="../media/image2.png" /><Relationship Id="rId3" Type="http://schemas.openxmlformats.org/officeDocument/2006/relationships/hyperlink" Target="https://gamma.app/?utm_source=made-with-gamma" TargetMode="External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.jpeg" /><Relationship Id="rId2" Type="http://schemas.openxmlformats.org/officeDocument/2006/relationships/image" Target="../media/image4.png" /><Relationship Id="rId3" Type="http://schemas.openxmlformats.org/officeDocument/2006/relationships/hyperlink" Target="https://gamma.app/?utm_source=made-with-gamma" TargetMode="External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5.jpeg" /><Relationship Id="rId2" Type="http://schemas.openxmlformats.org/officeDocument/2006/relationships/image" Target="../media/image6.png" /><Relationship Id="rId3" Type="http://schemas.openxmlformats.org/officeDocument/2006/relationships/hyperlink" Target="https://gamma.app/?utm_source=made-with-gamma" TargetMode="External" /><Relationship Id="rId4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7.jpeg" /><Relationship Id="rId2" Type="http://schemas.openxmlformats.org/officeDocument/2006/relationships/image" Target="../media/image8.png" /><Relationship Id="rId3" Type="http://schemas.openxmlformats.org/officeDocument/2006/relationships/hyperlink" Target="https://gamma.app/?utm_source=made-with-gamma" TargetMode="External" /><Relationship Id="rId4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9.jpeg" /><Relationship Id="rId2" Type="http://schemas.openxmlformats.org/officeDocument/2006/relationships/image" Target="../media/image10.png" /><Relationship Id="rId3" Type="http://schemas.openxmlformats.org/officeDocument/2006/relationships/hyperlink" Target="https://gamma.app/?utm_source=made-with-gamma" TargetMode="External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1.jpeg" /><Relationship Id="rId2" Type="http://schemas.openxmlformats.org/officeDocument/2006/relationships/image" Target="../media/image12.png" /><Relationship Id="rId3" Type="http://schemas.openxmlformats.org/officeDocument/2006/relationships/hyperlink" Target="https://gamma.app/?utm_source=made-with-gamma" TargetMode="External" /><Relationship Id="rId4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3.jpeg" /><Relationship Id="rId2" Type="http://schemas.openxmlformats.org/officeDocument/2006/relationships/image" Target="../media/image14.png" /><Relationship Id="rId3" Type="http://schemas.openxmlformats.org/officeDocument/2006/relationships/hyperlink" Target="https://gamma.app/?utm_source=made-with-gamma" TargetMode="External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jpeg" /><Relationship Id="rId2" Type="http://schemas.openxmlformats.org/officeDocument/2006/relationships/image" Target="../media/image16.png" /><Relationship Id="rId3" Type="http://schemas.openxmlformats.org/officeDocument/2006/relationships/hyperlink" Target="https://gamma.app/?utm_source=made-with-gamma" TargetMode="External" /><Relationship Id="rId4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7.jpeg" /><Relationship Id="rId2" Type="http://schemas.openxmlformats.org/officeDocument/2006/relationships/image" Target="../media/image18.png" /><Relationship Id="rId3" Type="http://schemas.openxmlformats.org/officeDocument/2006/relationships/hyperlink" Target="https://gamma.app/?utm_source=made-with-gamma" TargetMode="External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9.jpeg" /><Relationship Id="rId2" Type="http://schemas.openxmlformats.org/officeDocument/2006/relationships/image" Target="../media/image20.png" /><Relationship Id="rId3" Type="http://schemas.openxmlformats.org/officeDocument/2006/relationships/hyperlink" Target="https://gamma.app/?utm_source=made-with-gamma" TargetMode="External" /><Relationship Id="rId4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  <p:txBody>
          <a:bodyPr/>
          <a:lstStyle/>
          <a:p/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  <p:txBody>
          <a:bodyPr/>
          <a:lstStyle/>
          <a:p/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  <p:txBody>
          <a:bodyPr/>
          <a:lstStyle/>
          <a:p/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  <p:txBody>
          <a:bodyPr/>
          <a:lstStyle/>
          <a:p/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  <p:txBody>
          <a:bodyPr/>
          <a:lstStyle/>
          <a:p/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  <p:txBody>
          <a:bodyPr/>
          <a:lstStyle/>
          <a:p/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  <p:txBody>
          <a:bodyPr/>
          <a:lstStyle/>
          <a:p/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  <p:txBody>
          <a:bodyPr/>
          <a:lstStyle/>
          <a:p/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  <p:txBody>
          <a:bodyPr/>
          <a:lstStyle/>
          <a:p/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  <p:txBody>
          <a:bodyPr/>
          <a:lstStyle/>
          <a:p/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 /><Relationship Id="rId10" Type="http://schemas.openxmlformats.org/officeDocument/2006/relationships/image" Target="../media/image28.svg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21.jpeg" /><Relationship Id="rId4" Type="http://schemas.openxmlformats.org/officeDocument/2006/relationships/image" Target="../media/image22.svg" /><Relationship Id="rId5" Type="http://schemas.openxmlformats.org/officeDocument/2006/relationships/image" Target="../media/image23.jpeg" /><Relationship Id="rId6" Type="http://schemas.openxmlformats.org/officeDocument/2006/relationships/image" Target="../media/image24.svg" /><Relationship Id="rId7" Type="http://schemas.openxmlformats.org/officeDocument/2006/relationships/image" Target="../media/image25.jpeg" /><Relationship Id="rId8" Type="http://schemas.openxmlformats.org/officeDocument/2006/relationships/image" Target="../media/image26.svg" /><Relationship Id="rId9" Type="http://schemas.openxmlformats.org/officeDocument/2006/relationships/image" Target="../media/image27.jpe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29.jpeg" /><Relationship Id="rId4" Type="http://schemas.openxmlformats.org/officeDocument/2006/relationships/image" Target="../media/image30.svg" /><Relationship Id="rId5" Type="http://schemas.openxmlformats.org/officeDocument/2006/relationships/image" Target="../media/image31.jpeg" /><Relationship Id="rId6" Type="http://schemas.openxmlformats.org/officeDocument/2006/relationships/image" Target="../media/image32.svg" /><Relationship Id="rId7" Type="http://schemas.openxmlformats.org/officeDocument/2006/relationships/image" Target="../media/image33.jpeg" /><Relationship Id="rId8" Type="http://schemas.openxmlformats.org/officeDocument/2006/relationships/image" Target="../media/image34.sv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35.jpe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36.jpe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8.xml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37.jpe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10.xml" /></Relationships>
</file>

<file path=ppt/slides/slide1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 0"/>
          <p:cNvSpPr/>
          <p:nvPr/>
        </p:nvSpPr>
        <p:spPr>
          <a:xfrm>
            <a:off x="793790" y="1480185"/>
            <a:ext cx="9055298" cy="7442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THỰC TẬP ĐỒ ÁN CƠ SỞ NGÀNH</a:t>
            </a:r>
            <a:endParaRPr lang="en-US" sz="4650"/>
          </a:p>
        </p:txBody>
      </p:sp>
      <p:sp>
        <p:nvSpPr>
          <p:cNvPr id="3" name="Text 1"/>
          <p:cNvSpPr/>
          <p:nvPr/>
        </p:nvSpPr>
        <p:spPr>
          <a:xfrm>
            <a:off x="793790" y="2315170"/>
            <a:ext cx="4763333" cy="5954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b="1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Tên đề tài: </a:t>
            </a:r>
            <a:endParaRPr lang="en-US" sz="3750"/>
          </a:p>
        </p:txBody>
      </p:sp>
      <p:sp>
        <p:nvSpPr>
          <p:cNvPr id="4" name="Text 2"/>
          <p:cNvSpPr/>
          <p:nvPr/>
        </p:nvSpPr>
        <p:spPr>
          <a:xfrm>
            <a:off x="793790" y="3001327"/>
            <a:ext cx="13042821" cy="11908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b="1">
                <a:solidFill>
                  <a:srgbClr val="007EBD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Tìm hiểu framework React và Thiết kế Website bán nông sản</a:t>
            </a:r>
            <a:endParaRPr lang="en-US" sz="3750"/>
          </a:p>
        </p:txBody>
      </p:sp>
      <p:sp>
        <p:nvSpPr>
          <p:cNvPr id="5" name="Text 3"/>
          <p:cNvSpPr/>
          <p:nvPr/>
        </p:nvSpPr>
        <p:spPr>
          <a:xfrm>
            <a:off x="793790" y="4532352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Sinh viên thực hiện: </a:t>
            </a:r>
            <a:r>
              <a:rPr lang="en-US" sz="1750" b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Cao Á Châu</a:t>
            </a:r>
            <a:endParaRPr lang="en-US" sz="1750"/>
          </a:p>
        </p:txBody>
      </p:sp>
      <p:sp>
        <p:nvSpPr>
          <p:cNvPr id="6" name="Text 4"/>
          <p:cNvSpPr/>
          <p:nvPr/>
        </p:nvSpPr>
        <p:spPr>
          <a:xfrm>
            <a:off x="793790" y="5150406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MSSV: </a:t>
            </a:r>
            <a:r>
              <a:rPr lang="en-US" sz="1750" b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110123206</a:t>
            </a:r>
            <a:r>
              <a:rPr lang="en-US" sz="175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Lớp: </a:t>
            </a:r>
            <a:r>
              <a:rPr lang="en-US" sz="1750" b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DA23TTA</a:t>
            </a:r>
            <a:endParaRPr lang="en-US" sz="1750"/>
          </a:p>
        </p:txBody>
      </p:sp>
      <p:sp>
        <p:nvSpPr>
          <p:cNvPr id="7" name="Text 5"/>
          <p:cNvSpPr/>
          <p:nvPr/>
        </p:nvSpPr>
        <p:spPr>
          <a:xfrm>
            <a:off x="793790" y="5768459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Giảng viên hướng dẫn: </a:t>
            </a:r>
            <a:r>
              <a:rPr lang="en-US" sz="1750" b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Trịnh Quốc Việt</a:t>
            </a:r>
            <a:endParaRPr lang="en-US" sz="1750"/>
          </a:p>
        </p:txBody>
      </p:sp>
      <p:sp>
        <p:nvSpPr>
          <p:cNvPr id="8" name="Text 6"/>
          <p:cNvSpPr/>
          <p:nvPr/>
        </p:nvSpPr>
        <p:spPr>
          <a:xfrm>
            <a:off x="793790" y="6386513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Thời gian thực hiện: 03/11/2025 – 04/01/2026</a:t>
            </a:r>
            <a:endParaRPr lang="en-US" sz="1750"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 0"/>
          <p:cNvSpPr/>
          <p:nvPr/>
        </p:nvSpPr>
        <p:spPr>
          <a:xfrm>
            <a:off x="793790" y="1652349"/>
            <a:ext cx="4763333" cy="5954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b="1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LÝ DO CHỌN ĐỀ TÀI</a:t>
            </a:r>
            <a:endParaRPr lang="en-US" sz="3750"/>
          </a:p>
        </p:txBody>
      </p:sp>
      <p:sp>
        <p:nvSpPr>
          <p:cNvPr id="3" name="Shape 1"/>
          <p:cNvSpPr/>
          <p:nvPr/>
        </p:nvSpPr>
        <p:spPr>
          <a:xfrm>
            <a:off x="793790" y="2701409"/>
            <a:ext cx="6407944" cy="1630799"/>
          </a:xfrm>
          <a:prstGeom prst="roundRect">
            <a:avLst>
              <a:gd name="adj" fmla="val 8971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B2D4E5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Shape 2"/>
          <p:cNvSpPr/>
          <p:nvPr/>
        </p:nvSpPr>
        <p:spPr>
          <a:xfrm>
            <a:off x="763310" y="2701409"/>
            <a:ext cx="121920" cy="1630799"/>
          </a:xfrm>
          <a:prstGeom prst="roundRect">
            <a:avLst>
              <a:gd name="adj" fmla="val 78139"/>
            </a:avLst>
          </a:prstGeom>
          <a:solidFill>
            <a:srgbClr val="007EBD"/>
          </a:solidFill>
        </p:spPr>
        <p:txBody>
          <a:bodyPr/>
          <a:lstStyle/>
          <a:p/>
        </p:txBody>
      </p:sp>
      <p:sp>
        <p:nvSpPr>
          <p:cNvPr id="5" name="Text 3"/>
          <p:cNvSpPr/>
          <p:nvPr/>
        </p:nvSpPr>
        <p:spPr>
          <a:xfrm>
            <a:off x="1142524" y="2958703"/>
            <a:ext cx="5801916" cy="11162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Nông sản là ngành kinh tế quan trọng nhưng còn gặp nhiều khó khăn trong tiêu thụ</a:t>
            </a:r>
            <a:endParaRPr lang="en-US" sz="2300"/>
          </a:p>
        </p:txBody>
      </p:sp>
      <p:sp>
        <p:nvSpPr>
          <p:cNvPr id="6" name="Shape 4"/>
          <p:cNvSpPr/>
          <p:nvPr/>
        </p:nvSpPr>
        <p:spPr>
          <a:xfrm>
            <a:off x="7428548" y="2701409"/>
            <a:ext cx="6408063" cy="1630799"/>
          </a:xfrm>
          <a:prstGeom prst="roundRect">
            <a:avLst>
              <a:gd name="adj" fmla="val 8971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B2D4E5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Shape 5"/>
          <p:cNvSpPr/>
          <p:nvPr/>
        </p:nvSpPr>
        <p:spPr>
          <a:xfrm>
            <a:off x="7398067" y="2701409"/>
            <a:ext cx="121920" cy="1630799"/>
          </a:xfrm>
          <a:prstGeom prst="roundRect">
            <a:avLst>
              <a:gd name="adj" fmla="val 78139"/>
            </a:avLst>
          </a:prstGeom>
          <a:solidFill>
            <a:srgbClr val="007EBD"/>
          </a:solidFill>
        </p:spPr>
        <p:txBody>
          <a:bodyPr/>
          <a:lstStyle/>
          <a:p/>
        </p:txBody>
      </p:sp>
      <p:sp>
        <p:nvSpPr>
          <p:cNvPr id="8" name="Text 6"/>
          <p:cNvSpPr/>
          <p:nvPr/>
        </p:nvSpPr>
        <p:spPr>
          <a:xfrm>
            <a:off x="7777282" y="2958703"/>
            <a:ext cx="5802035" cy="7441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Tình trạng “được mùa mất giá” do thiếu kênh phân phối hiệu quả</a:t>
            </a:r>
            <a:endParaRPr lang="en-US" sz="2300"/>
          </a:p>
        </p:txBody>
      </p:sp>
      <p:sp>
        <p:nvSpPr>
          <p:cNvPr id="9" name="Shape 7"/>
          <p:cNvSpPr/>
          <p:nvPr/>
        </p:nvSpPr>
        <p:spPr>
          <a:xfrm>
            <a:off x="793790" y="4559022"/>
            <a:ext cx="6407944" cy="2018109"/>
          </a:xfrm>
          <a:prstGeom prst="roundRect">
            <a:avLst>
              <a:gd name="adj" fmla="val 7250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B2D4E5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Shape 8"/>
          <p:cNvSpPr/>
          <p:nvPr/>
        </p:nvSpPr>
        <p:spPr>
          <a:xfrm>
            <a:off x="763310" y="4559022"/>
            <a:ext cx="121920" cy="2018109"/>
          </a:xfrm>
          <a:prstGeom prst="roundRect">
            <a:avLst>
              <a:gd name="adj" fmla="val 78139"/>
            </a:avLst>
          </a:prstGeom>
          <a:solidFill>
            <a:srgbClr val="007EBD"/>
          </a:solidFill>
        </p:spPr>
        <p:txBody>
          <a:bodyPr/>
          <a:lstStyle/>
          <a:p/>
        </p:txBody>
      </p:sp>
      <p:sp>
        <p:nvSpPr>
          <p:cNvPr id="11" name="Text 9"/>
          <p:cNvSpPr/>
          <p:nvPr/>
        </p:nvSpPr>
        <p:spPr>
          <a:xfrm>
            <a:off x="1142524" y="4816316"/>
            <a:ext cx="5801916" cy="11162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Thương mại điện tử phát triển mạnh, người tiêu dùng có xu hướng mua sắm online</a:t>
            </a:r>
            <a:endParaRPr lang="en-US" sz="2300"/>
          </a:p>
        </p:txBody>
      </p:sp>
      <p:sp>
        <p:nvSpPr>
          <p:cNvPr id="12" name="Shape 10"/>
          <p:cNvSpPr/>
          <p:nvPr/>
        </p:nvSpPr>
        <p:spPr>
          <a:xfrm>
            <a:off x="7428548" y="4559022"/>
            <a:ext cx="6408063" cy="2018109"/>
          </a:xfrm>
          <a:prstGeom prst="roundRect">
            <a:avLst>
              <a:gd name="adj" fmla="val 7250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B2D4E5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Shape 11"/>
          <p:cNvSpPr/>
          <p:nvPr/>
        </p:nvSpPr>
        <p:spPr>
          <a:xfrm>
            <a:off x="7398067" y="4559022"/>
            <a:ext cx="121920" cy="2018109"/>
          </a:xfrm>
          <a:prstGeom prst="roundRect">
            <a:avLst>
              <a:gd name="adj" fmla="val 78139"/>
            </a:avLst>
          </a:prstGeom>
          <a:solidFill>
            <a:srgbClr val="007EBD"/>
          </a:solidFill>
        </p:spPr>
        <p:txBody>
          <a:bodyPr/>
          <a:lstStyle/>
          <a:p/>
        </p:txBody>
      </p:sp>
      <p:sp>
        <p:nvSpPr>
          <p:cNvPr id="14" name="Text 12"/>
          <p:cNvSpPr/>
          <p:nvPr/>
        </p:nvSpPr>
        <p:spPr>
          <a:xfrm>
            <a:off x="7777282" y="4816316"/>
            <a:ext cx="5802035" cy="15035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React là framework phổ biến, hiện đại, phù hợp xây dựng Website TMĐT </a:t>
            </a:r>
            <a:r>
              <a:rPr lang="en-US" sz="2300" b="1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➡️</a:t>
            </a:r>
            <a:r>
              <a:rPr lang="en-US" sz="2300" b="1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Cần một Website bán nông sản chuyên nghiệp, minh bạch và dễ sử dụng</a:t>
            </a:r>
            <a:endParaRPr lang="en-US" sz="2300"/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 0"/>
          <p:cNvSpPr/>
          <p:nvPr/>
        </p:nvSpPr>
        <p:spPr>
          <a:xfrm>
            <a:off x="793790" y="1356598"/>
            <a:ext cx="5153978" cy="5954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b="1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TỔNG QUAN VỀ ĐỀ TÀI</a:t>
            </a:r>
            <a:endParaRPr lang="en-US" sz="3750"/>
          </a:p>
        </p:txBody>
      </p:sp>
      <p:sp>
        <p:nvSpPr>
          <p:cNvPr id="3" name="Shape 1"/>
          <p:cNvSpPr/>
          <p:nvPr/>
        </p:nvSpPr>
        <p:spPr>
          <a:xfrm>
            <a:off x="793790" y="2405658"/>
            <a:ext cx="6407944" cy="2120265"/>
          </a:xfrm>
          <a:prstGeom prst="roundRect">
            <a:avLst>
              <a:gd name="adj" fmla="val 4493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Shape 2"/>
          <p:cNvSpPr/>
          <p:nvPr/>
        </p:nvSpPr>
        <p:spPr>
          <a:xfrm>
            <a:off x="1028224" y="264009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007EBD"/>
          </a:solidFill>
        </p:spPr>
        <p:txBody>
          <a:bodyPr/>
          <a:lstStyle/>
          <a:p/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5390" y="2827139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3547348"/>
            <a:ext cx="3944541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Nghiên cứu framework </a:t>
            </a:r>
            <a:r>
              <a:rPr lang="en-US" sz="2300" b="1">
                <a:solidFill>
                  <a:srgbClr val="007EBD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React</a:t>
            </a:r>
            <a:endParaRPr lang="en-US" sz="2300"/>
          </a:p>
        </p:txBody>
      </p:sp>
      <p:sp>
        <p:nvSpPr>
          <p:cNvPr id="7" name="Shape 4"/>
          <p:cNvSpPr/>
          <p:nvPr/>
        </p:nvSpPr>
        <p:spPr>
          <a:xfrm>
            <a:off x="7428548" y="2405658"/>
            <a:ext cx="6408063" cy="2120265"/>
          </a:xfrm>
          <a:prstGeom prst="roundRect">
            <a:avLst>
              <a:gd name="adj" fmla="val 4493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Shape 5"/>
          <p:cNvSpPr/>
          <p:nvPr/>
        </p:nvSpPr>
        <p:spPr>
          <a:xfrm>
            <a:off x="7662982" y="264009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007EBD"/>
          </a:solidFill>
        </p:spPr>
        <p:txBody>
          <a:bodyPr/>
          <a:lstStyle/>
          <a:p/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50148" y="2827139"/>
            <a:ext cx="306110" cy="3061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62982" y="3547348"/>
            <a:ext cx="5939195" cy="7441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Ứng dụng React để xây dựng </a:t>
            </a:r>
            <a:r>
              <a:rPr lang="en-US" sz="2300" b="1">
                <a:solidFill>
                  <a:srgbClr val="007EBD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Website bán nông sản</a:t>
            </a:r>
            <a:endParaRPr lang="en-US" sz="2300"/>
          </a:p>
        </p:txBody>
      </p:sp>
      <p:sp>
        <p:nvSpPr>
          <p:cNvPr id="11" name="Shape 7"/>
          <p:cNvSpPr/>
          <p:nvPr/>
        </p:nvSpPr>
        <p:spPr>
          <a:xfrm>
            <a:off x="793790" y="4752737"/>
            <a:ext cx="6407944" cy="2120265"/>
          </a:xfrm>
          <a:prstGeom prst="roundRect">
            <a:avLst>
              <a:gd name="adj" fmla="val 4493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Shape 8"/>
          <p:cNvSpPr/>
          <p:nvPr/>
        </p:nvSpPr>
        <p:spPr>
          <a:xfrm>
            <a:off x="1028224" y="498717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007EBD"/>
          </a:solidFill>
        </p:spPr>
        <p:txBody>
          <a:bodyPr/>
          <a:lstStyle/>
          <a:p/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15390" y="5174218"/>
            <a:ext cx="306110" cy="3061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28224" y="5894427"/>
            <a:ext cx="5939076" cy="7441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Kết nối người bán (nông dân) với người tiêu dùng</a:t>
            </a:r>
            <a:endParaRPr lang="en-US" sz="2300"/>
          </a:p>
        </p:txBody>
      </p:sp>
      <p:sp>
        <p:nvSpPr>
          <p:cNvPr id="15" name="Shape 10"/>
          <p:cNvSpPr/>
          <p:nvPr/>
        </p:nvSpPr>
        <p:spPr>
          <a:xfrm>
            <a:off x="7428548" y="4752737"/>
            <a:ext cx="6408063" cy="2120265"/>
          </a:xfrm>
          <a:prstGeom prst="roundRect">
            <a:avLst>
              <a:gd name="adj" fmla="val 4493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Shape 11"/>
          <p:cNvSpPr/>
          <p:nvPr/>
        </p:nvSpPr>
        <p:spPr>
          <a:xfrm>
            <a:off x="7662982" y="498717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007EBD"/>
          </a:solidFill>
        </p:spPr>
        <p:txBody>
          <a:bodyPr/>
          <a:lstStyle/>
          <a:p/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50148" y="5174218"/>
            <a:ext cx="306110" cy="30611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662982" y="5894427"/>
            <a:ext cx="5939195" cy="7441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Góp phần thúc đẩy chuyển đổi số trong nông nghiệp Việt Nam</a:t>
            </a:r>
            <a:endParaRPr lang="en-US" sz="2300"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 0"/>
          <p:cNvSpPr/>
          <p:nvPr/>
        </p:nvSpPr>
        <p:spPr>
          <a:xfrm>
            <a:off x="793790" y="2427684"/>
            <a:ext cx="5435441" cy="5954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b="1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MỤC TIÊU NGHIÊN CỨU</a:t>
            </a:r>
            <a:endParaRPr lang="en-US" sz="3750"/>
          </a:p>
        </p:txBody>
      </p:sp>
      <p:sp>
        <p:nvSpPr>
          <p:cNvPr id="3" name="Shape 1"/>
          <p:cNvSpPr/>
          <p:nvPr/>
        </p:nvSpPr>
        <p:spPr>
          <a:xfrm>
            <a:off x="793790" y="347674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870347" y="3508653"/>
            <a:ext cx="357188" cy="44648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b="1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1530906" y="3519249"/>
            <a:ext cx="5642491" cy="8932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Xây dựng Website bán nông sản hoạt động ổn định</a:t>
            </a:r>
            <a:endParaRPr lang="en-US" sz="2800"/>
          </a:p>
        </p:txBody>
      </p:sp>
      <p:sp>
        <p:nvSpPr>
          <p:cNvPr id="6" name="Shape 4"/>
          <p:cNvSpPr/>
          <p:nvPr/>
        </p:nvSpPr>
        <p:spPr>
          <a:xfrm>
            <a:off x="7456884" y="347674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Text 5"/>
          <p:cNvSpPr/>
          <p:nvPr/>
        </p:nvSpPr>
        <p:spPr>
          <a:xfrm>
            <a:off x="7533442" y="3508653"/>
            <a:ext cx="357188" cy="44648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b="1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8194000" y="3519249"/>
            <a:ext cx="5642610" cy="8932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Tạo môi trường mua bán minh bạch, tiện lợi</a:t>
            </a:r>
            <a:endParaRPr lang="en-US" sz="2800"/>
          </a:p>
        </p:txBody>
      </p:sp>
      <p:sp>
        <p:nvSpPr>
          <p:cNvPr id="9" name="Shape 7"/>
          <p:cNvSpPr/>
          <p:nvPr/>
        </p:nvSpPr>
        <p:spPr>
          <a:xfrm>
            <a:off x="793790" y="486608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Text 8"/>
          <p:cNvSpPr/>
          <p:nvPr/>
        </p:nvSpPr>
        <p:spPr>
          <a:xfrm>
            <a:off x="870347" y="4897993"/>
            <a:ext cx="357188" cy="44648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b="1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2800"/>
          </a:p>
        </p:txBody>
      </p:sp>
      <p:sp>
        <p:nvSpPr>
          <p:cNvPr id="11" name="Text 9"/>
          <p:cNvSpPr/>
          <p:nvPr/>
        </p:nvSpPr>
        <p:spPr>
          <a:xfrm>
            <a:off x="1530906" y="4908590"/>
            <a:ext cx="5642491" cy="8932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Hỗ trợ người nông dân tiêu thụ sản phẩm hiệu quả</a:t>
            </a:r>
            <a:endParaRPr lang="en-US" sz="2800"/>
          </a:p>
        </p:txBody>
      </p:sp>
      <p:sp>
        <p:nvSpPr>
          <p:cNvPr id="12" name="Shape 10"/>
          <p:cNvSpPr/>
          <p:nvPr/>
        </p:nvSpPr>
        <p:spPr>
          <a:xfrm>
            <a:off x="7456884" y="486608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Text 11"/>
          <p:cNvSpPr/>
          <p:nvPr/>
        </p:nvSpPr>
        <p:spPr>
          <a:xfrm>
            <a:off x="7533442" y="4897993"/>
            <a:ext cx="357188" cy="44648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b="1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2800"/>
          </a:p>
        </p:txBody>
      </p:sp>
      <p:sp>
        <p:nvSpPr>
          <p:cNvPr id="14" name="Text 12"/>
          <p:cNvSpPr/>
          <p:nvPr/>
        </p:nvSpPr>
        <p:spPr>
          <a:xfrm>
            <a:off x="8194000" y="4908590"/>
            <a:ext cx="5642610" cy="8932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Nâng cao kỹ năng lập trình Web với React cho sinh viên</a:t>
            </a:r>
            <a:endParaRPr lang="en-US" sz="2800"/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 0"/>
          <p:cNvSpPr/>
          <p:nvPr/>
        </p:nvSpPr>
        <p:spPr>
          <a:xfrm>
            <a:off x="793790" y="2792968"/>
            <a:ext cx="5618321" cy="5954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b="1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ĐỐI TƯỢNG HƯỚNG ĐẾN</a:t>
            </a:r>
            <a:endParaRPr lang="en-US" sz="37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842028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692491"/>
            <a:ext cx="4158615" cy="7441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Người tiêu dùng có nhu cầu mua nông sản online</a:t>
            </a:r>
            <a:endParaRPr lang="en-US" sz="230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893" y="3842028"/>
            <a:ext cx="566976" cy="56697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235893" y="4692491"/>
            <a:ext cx="4158615" cy="7441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Người nông dân / cửa hàng nông sản</a:t>
            </a:r>
            <a:endParaRPr lang="en-US" sz="230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77995" y="3842028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677995" y="4692491"/>
            <a:ext cx="4158615" cy="7441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Người quản trị hệ thống Website</a:t>
            </a:r>
            <a:endParaRPr lang="en-US" sz="2300"/>
          </a:p>
        </p:txBody>
      </p:sp>
    </p:spTree>
  </p:cSld>
  <p:clrMapOvr>
    <a:masterClrMapping/>
  </p:clrMapOvr>
  <p:transition/>
  <p:timing/>
</p:sld>
</file>

<file path=ppt/slides/slide6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 0"/>
          <p:cNvSpPr/>
          <p:nvPr/>
        </p:nvSpPr>
        <p:spPr>
          <a:xfrm>
            <a:off x="793790" y="1639610"/>
            <a:ext cx="4763333" cy="5954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b="1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PHẠM VI ĐỀ TÀI</a:t>
            </a:r>
            <a:endParaRPr lang="en-US" sz="37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830354"/>
            <a:ext cx="6244709" cy="35043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99521" y="2779276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Tx/>
              <a:buChar char="•"/>
            </a:pPr>
            <a:r>
              <a:rPr lang="en-US" sz="175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Xây dựng Website bán nông sản cơ bản</a:t>
            </a:r>
            <a:endParaRPr lang="en-US" sz="1750"/>
          </a:p>
        </p:txBody>
      </p:sp>
      <p:sp>
        <p:nvSpPr>
          <p:cNvPr id="5" name="Text 2"/>
          <p:cNvSpPr/>
          <p:nvPr/>
        </p:nvSpPr>
        <p:spPr>
          <a:xfrm>
            <a:off x="7599521" y="3221474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Tx/>
              <a:buChar char="•"/>
            </a:pPr>
            <a:r>
              <a:rPr lang="en-US" sz="175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Sử dụng React cho giao diện người dùng</a:t>
            </a:r>
            <a:endParaRPr lang="en-US" sz="1750"/>
          </a:p>
        </p:txBody>
      </p:sp>
      <p:sp>
        <p:nvSpPr>
          <p:cNvPr id="6" name="Text 3"/>
          <p:cNvSpPr/>
          <p:nvPr/>
        </p:nvSpPr>
        <p:spPr>
          <a:xfrm>
            <a:off x="7599521" y="3663672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Tx/>
              <a:buChar char="•"/>
            </a:pPr>
            <a:r>
              <a:rPr lang="en-US" sz="175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Dữ liệu ở mức mô phỏng (JSON)</a:t>
            </a:r>
            <a:endParaRPr lang="en-US" sz="1750"/>
          </a:p>
        </p:txBody>
      </p:sp>
      <p:sp>
        <p:nvSpPr>
          <p:cNvPr id="7" name="Text 4"/>
          <p:cNvSpPr/>
          <p:nvPr/>
        </p:nvSpPr>
        <p:spPr>
          <a:xfrm>
            <a:off x="7599521" y="4105870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Tx/>
              <a:buChar char="•"/>
            </a:pPr>
            <a:r>
              <a:rPr lang="en-US" sz="175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Chưa tích hợp thanh toán thực tế</a:t>
            </a:r>
            <a:endParaRPr lang="en-US" sz="1750"/>
          </a:p>
        </p:txBody>
      </p:sp>
    </p:spTree>
  </p:cSld>
  <p:clrMapOvr>
    <a:masterClrMapping/>
  </p:clrMapOvr>
  <p:transition/>
  <p:timing/>
</p:sld>
</file>

<file path=ppt/slides/slide7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096214"/>
            <a:ext cx="6065520" cy="5954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b="1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NGHIÊN CỨU THỊ TRƯỜNG</a:t>
            </a:r>
            <a:endParaRPr lang="en-US" sz="3750"/>
          </a:p>
        </p:txBody>
      </p:sp>
      <p:sp>
        <p:nvSpPr>
          <p:cNvPr id="4" name="Text 1"/>
          <p:cNvSpPr/>
          <p:nvPr/>
        </p:nvSpPr>
        <p:spPr>
          <a:xfrm>
            <a:off x="6280190" y="3031808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Khảo sát nhu cầu mua bán nông sản trực tuyến</a:t>
            </a:r>
            <a:endParaRPr lang="en-US" sz="1750"/>
          </a:p>
        </p:txBody>
      </p:sp>
      <p:sp>
        <p:nvSpPr>
          <p:cNvPr id="5" name="Text 2"/>
          <p:cNvSpPr/>
          <p:nvPr/>
        </p:nvSpPr>
        <p:spPr>
          <a:xfrm>
            <a:off x="6280190" y="3649861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Tham khảo các Website tương tự:</a:t>
            </a:r>
            <a:endParaRPr lang="en-US" sz="1750"/>
          </a:p>
        </p:txBody>
      </p:sp>
      <p:sp>
        <p:nvSpPr>
          <p:cNvPr id="6" name="Text 3"/>
          <p:cNvSpPr/>
          <p:nvPr/>
        </p:nvSpPr>
        <p:spPr>
          <a:xfrm>
            <a:off x="6280190" y="4267914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Tx/>
              <a:buChar char="•"/>
            </a:pPr>
            <a:r>
              <a:rPr lang="en-US" sz="175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Bách Hóa Xanh</a:t>
            </a:r>
            <a:endParaRPr lang="en-US" sz="1750"/>
          </a:p>
        </p:txBody>
      </p:sp>
      <p:sp>
        <p:nvSpPr>
          <p:cNvPr id="7" name="Text 4"/>
          <p:cNvSpPr/>
          <p:nvPr/>
        </p:nvSpPr>
        <p:spPr>
          <a:xfrm>
            <a:off x="6280190" y="4710113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Tx/>
              <a:buChar char="•"/>
            </a:pPr>
            <a:r>
              <a:rPr lang="en-US" sz="175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Grab Food</a:t>
            </a:r>
            <a:endParaRPr lang="en-US" sz="1750"/>
          </a:p>
        </p:txBody>
      </p:sp>
      <p:sp>
        <p:nvSpPr>
          <p:cNvPr id="8" name="Text 5"/>
          <p:cNvSpPr/>
          <p:nvPr/>
        </p:nvSpPr>
        <p:spPr>
          <a:xfrm>
            <a:off x="6280190" y="5152311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Tx/>
              <a:buChar char="•"/>
            </a:pPr>
            <a:r>
              <a:rPr lang="en-US" sz="175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ShopeeFood</a:t>
            </a:r>
            <a:endParaRPr lang="en-US" sz="1750"/>
          </a:p>
        </p:txBody>
      </p:sp>
      <p:sp>
        <p:nvSpPr>
          <p:cNvPr id="9" name="Text 6"/>
          <p:cNvSpPr/>
          <p:nvPr/>
        </p:nvSpPr>
        <p:spPr>
          <a:xfrm>
            <a:off x="6280190" y="5770364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Phân tích ưu điểm – hạn chế – xu hướng thiết kế</a:t>
            </a:r>
            <a:endParaRPr lang="en-US" sz="1750"/>
          </a:p>
        </p:txBody>
      </p:sp>
    </p:spTree>
  </p:cSld>
  <p:clrMapOvr>
    <a:masterClrMapping/>
  </p:clrMapOvr>
  <p:transition/>
  <p:timing/>
</p:sld>
</file>

<file path=ppt/slides/slide8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 0"/>
          <p:cNvSpPr/>
          <p:nvPr/>
        </p:nvSpPr>
        <p:spPr>
          <a:xfrm>
            <a:off x="793790" y="2756892"/>
            <a:ext cx="5011103" cy="5954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b="1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CÔNG NGHỆ SỬ DỤNG</a:t>
            </a:r>
            <a:endParaRPr lang="en-US" sz="3750"/>
          </a:p>
        </p:txBody>
      </p:sp>
      <p:sp>
        <p:nvSpPr>
          <p:cNvPr id="3" name="Shape 1"/>
          <p:cNvSpPr/>
          <p:nvPr/>
        </p:nvSpPr>
        <p:spPr>
          <a:xfrm>
            <a:off x="793790" y="3805952"/>
            <a:ext cx="13042821" cy="1666637"/>
          </a:xfrm>
          <a:prstGeom prst="roundRect">
            <a:avLst>
              <a:gd name="adj" fmla="val 5716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Shape 2"/>
          <p:cNvSpPr/>
          <p:nvPr/>
        </p:nvSpPr>
        <p:spPr>
          <a:xfrm>
            <a:off x="801410" y="3813572"/>
            <a:ext cx="4342448" cy="825698"/>
          </a:xfrm>
          <a:prstGeom prst="roundRect">
            <a:avLst>
              <a:gd name="adj" fmla="val 11538"/>
            </a:avLst>
          </a:prstGeom>
          <a:solidFill>
            <a:srgbClr val="CCEEFF"/>
          </a:solidFill>
        </p:spPr>
        <p:txBody>
          <a:bodyPr/>
          <a:lstStyle/>
          <a:p/>
        </p:txBody>
      </p:sp>
      <p:sp>
        <p:nvSpPr>
          <p:cNvPr id="5" name="Text 3"/>
          <p:cNvSpPr/>
          <p:nvPr/>
        </p:nvSpPr>
        <p:spPr>
          <a:xfrm>
            <a:off x="1028224" y="4040386"/>
            <a:ext cx="2977039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ReactJS</a:t>
            </a:r>
            <a:endParaRPr lang="en-US" sz="2300"/>
          </a:p>
        </p:txBody>
      </p:sp>
      <p:sp>
        <p:nvSpPr>
          <p:cNvPr id="6" name="Shape 4"/>
          <p:cNvSpPr/>
          <p:nvPr/>
        </p:nvSpPr>
        <p:spPr>
          <a:xfrm>
            <a:off x="5143857" y="3813572"/>
            <a:ext cx="4342567" cy="825698"/>
          </a:xfrm>
          <a:prstGeom prst="rect">
            <a:avLst/>
          </a:prstGeom>
          <a:solidFill>
            <a:srgbClr val="CCEEFF"/>
          </a:solidFill>
        </p:spPr>
        <p:txBody>
          <a:bodyPr/>
          <a:lstStyle/>
          <a:p/>
        </p:txBody>
      </p:sp>
      <p:sp>
        <p:nvSpPr>
          <p:cNvPr id="7" name="Shape 5"/>
          <p:cNvSpPr/>
          <p:nvPr/>
        </p:nvSpPr>
        <p:spPr>
          <a:xfrm>
            <a:off x="5143857" y="3813572"/>
            <a:ext cx="30480" cy="825698"/>
          </a:xfrm>
          <a:prstGeom prst="roundRect">
            <a:avLst>
              <a:gd name="adj" fmla="val 312558"/>
            </a:avLst>
          </a:prstGeom>
          <a:solidFill>
            <a:srgbClr val="B2D4E5"/>
          </a:solidFill>
        </p:spPr>
        <p:txBody>
          <a:bodyPr/>
          <a:lstStyle/>
          <a:p/>
        </p:txBody>
      </p:sp>
      <p:sp>
        <p:nvSpPr>
          <p:cNvPr id="8" name="Text 6"/>
          <p:cNvSpPr/>
          <p:nvPr/>
        </p:nvSpPr>
        <p:spPr>
          <a:xfrm>
            <a:off x="5370671" y="4040386"/>
            <a:ext cx="3029545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HTML, CSS, JavaScript</a:t>
            </a:r>
            <a:endParaRPr lang="en-US" sz="2300"/>
          </a:p>
        </p:txBody>
      </p:sp>
      <p:sp>
        <p:nvSpPr>
          <p:cNvPr id="9" name="Shape 7"/>
          <p:cNvSpPr/>
          <p:nvPr/>
        </p:nvSpPr>
        <p:spPr>
          <a:xfrm>
            <a:off x="9486424" y="3813572"/>
            <a:ext cx="4342567" cy="825698"/>
          </a:xfrm>
          <a:prstGeom prst="rect">
            <a:avLst/>
          </a:prstGeom>
          <a:solidFill>
            <a:srgbClr val="CCEEFF"/>
          </a:solidFill>
        </p:spPr>
        <p:txBody>
          <a:bodyPr/>
          <a:lstStyle/>
          <a:p/>
        </p:txBody>
      </p:sp>
      <p:sp>
        <p:nvSpPr>
          <p:cNvPr id="10" name="Shape 8"/>
          <p:cNvSpPr/>
          <p:nvPr/>
        </p:nvSpPr>
        <p:spPr>
          <a:xfrm>
            <a:off x="9486424" y="3813572"/>
            <a:ext cx="30480" cy="825698"/>
          </a:xfrm>
          <a:prstGeom prst="roundRect">
            <a:avLst>
              <a:gd name="adj" fmla="val 312558"/>
            </a:avLst>
          </a:prstGeom>
          <a:solidFill>
            <a:srgbClr val="B2D4E5"/>
          </a:solidFill>
        </p:spPr>
        <p:txBody>
          <a:bodyPr/>
          <a:lstStyle/>
          <a:p/>
        </p:txBody>
      </p:sp>
      <p:sp>
        <p:nvSpPr>
          <p:cNvPr id="11" name="Text 9"/>
          <p:cNvSpPr/>
          <p:nvPr/>
        </p:nvSpPr>
        <p:spPr>
          <a:xfrm>
            <a:off x="9713238" y="4040386"/>
            <a:ext cx="2977039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JSON (giả lập dữ liệu)</a:t>
            </a:r>
            <a:endParaRPr lang="en-US" sz="2300"/>
          </a:p>
        </p:txBody>
      </p:sp>
      <p:sp>
        <p:nvSpPr>
          <p:cNvPr id="12" name="Shape 10"/>
          <p:cNvSpPr/>
          <p:nvPr/>
        </p:nvSpPr>
        <p:spPr>
          <a:xfrm>
            <a:off x="801410" y="4639270"/>
            <a:ext cx="6513790" cy="825698"/>
          </a:xfrm>
          <a:prstGeom prst="rect">
            <a:avLst/>
          </a:prstGeom>
          <a:solidFill>
            <a:srgbClr val="CCEEFF"/>
          </a:solidFill>
        </p:spPr>
        <p:txBody>
          <a:bodyPr/>
          <a:lstStyle/>
          <a:p/>
        </p:txBody>
      </p:sp>
      <p:sp>
        <p:nvSpPr>
          <p:cNvPr id="13" name="Shape 11"/>
          <p:cNvSpPr/>
          <p:nvPr/>
        </p:nvSpPr>
        <p:spPr>
          <a:xfrm>
            <a:off x="801410" y="4639270"/>
            <a:ext cx="6513790" cy="30480"/>
          </a:xfrm>
          <a:prstGeom prst="roundRect">
            <a:avLst>
              <a:gd name="adj" fmla="val 312558"/>
            </a:avLst>
          </a:prstGeom>
          <a:solidFill>
            <a:srgbClr val="B2D4E5"/>
          </a:solidFill>
        </p:spPr>
        <p:txBody>
          <a:bodyPr/>
          <a:lstStyle/>
          <a:p/>
        </p:txBody>
      </p:sp>
      <p:sp>
        <p:nvSpPr>
          <p:cNvPr id="14" name="Text 12"/>
          <p:cNvSpPr/>
          <p:nvPr/>
        </p:nvSpPr>
        <p:spPr>
          <a:xfrm>
            <a:off x="1028224" y="4866084"/>
            <a:ext cx="3466028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Figma (thiết kế giao diện)</a:t>
            </a:r>
            <a:endParaRPr lang="en-US" sz="2300"/>
          </a:p>
        </p:txBody>
      </p:sp>
      <p:sp>
        <p:nvSpPr>
          <p:cNvPr id="15" name="Shape 13"/>
          <p:cNvSpPr/>
          <p:nvPr/>
        </p:nvSpPr>
        <p:spPr>
          <a:xfrm>
            <a:off x="7315200" y="4639270"/>
            <a:ext cx="6513790" cy="825698"/>
          </a:xfrm>
          <a:prstGeom prst="rect">
            <a:avLst/>
          </a:prstGeom>
          <a:solidFill>
            <a:srgbClr val="CCEEFF"/>
          </a:solidFill>
        </p:spPr>
        <p:txBody>
          <a:bodyPr/>
          <a:lstStyle/>
          <a:p/>
        </p:txBody>
      </p:sp>
      <p:sp>
        <p:nvSpPr>
          <p:cNvPr id="16" name="Shape 14"/>
          <p:cNvSpPr/>
          <p:nvPr/>
        </p:nvSpPr>
        <p:spPr>
          <a:xfrm>
            <a:off x="7315200" y="4639270"/>
            <a:ext cx="30480" cy="825698"/>
          </a:xfrm>
          <a:prstGeom prst="roundRect">
            <a:avLst>
              <a:gd name="adj" fmla="val 312558"/>
            </a:avLst>
          </a:prstGeom>
          <a:solidFill>
            <a:srgbClr val="B2D4E5"/>
          </a:solidFill>
        </p:spPr>
        <p:txBody>
          <a:bodyPr/>
          <a:lstStyle/>
          <a:p/>
        </p:txBody>
      </p:sp>
      <p:sp>
        <p:nvSpPr>
          <p:cNvPr id="17" name="Shape 15"/>
          <p:cNvSpPr/>
          <p:nvPr/>
        </p:nvSpPr>
        <p:spPr>
          <a:xfrm>
            <a:off x="7315200" y="4639270"/>
            <a:ext cx="6513790" cy="30480"/>
          </a:xfrm>
          <a:prstGeom prst="roundRect">
            <a:avLst>
              <a:gd name="adj" fmla="val 312558"/>
            </a:avLst>
          </a:prstGeom>
          <a:solidFill>
            <a:srgbClr val="B2D4E5"/>
          </a:solidFill>
        </p:spPr>
        <p:txBody>
          <a:bodyPr/>
          <a:lstStyle/>
          <a:p/>
        </p:txBody>
      </p:sp>
      <p:sp>
        <p:nvSpPr>
          <p:cNvPr id="18" name="Text 16"/>
          <p:cNvSpPr/>
          <p:nvPr/>
        </p:nvSpPr>
        <p:spPr>
          <a:xfrm>
            <a:off x="7542014" y="4866084"/>
            <a:ext cx="3694509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GitHub (quản lý mã nguồn)</a:t>
            </a:r>
            <a:endParaRPr lang="en-US" sz="2300"/>
          </a:p>
        </p:txBody>
      </p:sp>
    </p:spTree>
  </p:cSld>
  <p:clrMapOvr>
    <a:masterClrMapping/>
  </p:clrMapOvr>
  <p:transition/>
  <p:timing/>
</p:sld>
</file>

<file path=ppt/slides/slide9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 0"/>
          <p:cNvSpPr/>
          <p:nvPr/>
        </p:nvSpPr>
        <p:spPr>
          <a:xfrm>
            <a:off x="793790" y="637699"/>
            <a:ext cx="4763333" cy="5954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b="1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THIẾT KẾ GIAO DIỆN</a:t>
            </a:r>
            <a:endParaRPr lang="en-US" sz="37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828443"/>
            <a:ext cx="6244709" cy="55083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99521" y="1777365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/>
          </a:p>
        </p:txBody>
      </p:sp>
      <p:sp>
        <p:nvSpPr>
          <p:cNvPr id="5" name="Text 2"/>
          <p:cNvSpPr/>
          <p:nvPr/>
        </p:nvSpPr>
        <p:spPr>
          <a:xfrm>
            <a:off x="7599521" y="2344341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Tx/>
              <a:buChar char="•"/>
            </a:pPr>
            <a:r>
              <a:rPr lang="en-US" sz="175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Giao diện thân thiện, dễ sử dụng</a:t>
            </a:r>
            <a:endParaRPr lang="en-US" sz="1750"/>
          </a:p>
        </p:txBody>
      </p:sp>
      <p:sp>
        <p:nvSpPr>
          <p:cNvPr id="6" name="Text 3"/>
          <p:cNvSpPr/>
          <p:nvPr/>
        </p:nvSpPr>
        <p:spPr>
          <a:xfrm>
            <a:off x="7599521" y="2786539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Tx/>
              <a:buChar char="•"/>
            </a:pPr>
            <a:r>
              <a:rPr lang="en-US" sz="175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Responsive – tương thích nhiều thiết bị</a:t>
            </a:r>
            <a:endParaRPr lang="en-US" sz="1750"/>
          </a:p>
        </p:txBody>
      </p:sp>
      <p:sp>
        <p:nvSpPr>
          <p:cNvPr id="7" name="Text 4"/>
          <p:cNvSpPr/>
          <p:nvPr/>
        </p:nvSpPr>
        <p:spPr>
          <a:xfrm>
            <a:off x="7599521" y="3228737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Tx/>
              <a:buChar char="•"/>
            </a:pPr>
            <a:r>
              <a:rPr lang="en-US" sz="175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Màu sắc phù hợp với sản phẩm nông nghiệp</a:t>
            </a:r>
            <a:endParaRPr lang="en-US" sz="1750"/>
          </a:p>
        </p:txBody>
      </p:sp>
    </p:spTree>
  </p:cSld>
  <p:clrMapOvr>
    <a:masterClrMapping/>
  </p:clrMapOvr>
  <p:transition/>
  <p:timing/>
</p:sld>
</file>

<file path=ppt/slides/slide10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 0"/>
          <p:cNvSpPr/>
          <p:nvPr/>
        </p:nvSpPr>
        <p:spPr>
          <a:xfrm>
            <a:off x="793790" y="1058704"/>
            <a:ext cx="5611178" cy="5954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b="1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CÁC TRANG CHỨC NĂNG</a:t>
            </a:r>
            <a:endParaRPr lang="en-US" sz="3750"/>
          </a:p>
        </p:txBody>
      </p:sp>
      <p:sp>
        <p:nvSpPr>
          <p:cNvPr id="3" name="Shape 1"/>
          <p:cNvSpPr/>
          <p:nvPr/>
        </p:nvSpPr>
        <p:spPr>
          <a:xfrm>
            <a:off x="793790" y="2447925"/>
            <a:ext cx="4196358" cy="1196340"/>
          </a:xfrm>
          <a:prstGeom prst="roundRect">
            <a:avLst>
              <a:gd name="adj" fmla="val 12229"/>
            </a:avLst>
          </a:prstGeom>
          <a:solidFill>
            <a:srgbClr val="FFFFFF">
              <a:alpha val="95000"/>
            </a:srgbClr>
          </a:solidFill>
        </p:spPr>
        <p:txBody>
          <a:bodyPr/>
          <a:lstStyle/>
          <a:p/>
        </p:txBody>
      </p:sp>
      <p:sp>
        <p:nvSpPr>
          <p:cNvPr id="4" name="Shape 2"/>
          <p:cNvSpPr/>
          <p:nvPr/>
        </p:nvSpPr>
        <p:spPr>
          <a:xfrm>
            <a:off x="793790" y="2417445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007EBD"/>
          </a:solidFill>
        </p:spPr>
        <p:txBody>
          <a:bodyPr/>
          <a:lstStyle/>
          <a:p/>
        </p:txBody>
      </p:sp>
      <p:sp>
        <p:nvSpPr>
          <p:cNvPr id="5" name="Shape 3"/>
          <p:cNvSpPr/>
          <p:nvPr/>
        </p:nvSpPr>
        <p:spPr>
          <a:xfrm>
            <a:off x="2551688" y="2107763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007EBD"/>
          </a:solidFill>
        </p:spPr>
        <p:txBody>
          <a:bodyPr/>
          <a:lstStyle/>
          <a:p/>
        </p:txBody>
      </p:sp>
      <p:sp>
        <p:nvSpPr>
          <p:cNvPr id="6" name="Text 4"/>
          <p:cNvSpPr/>
          <p:nvPr/>
        </p:nvSpPr>
        <p:spPr>
          <a:xfrm>
            <a:off x="2755761" y="2277904"/>
            <a:ext cx="272177" cy="3401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100"/>
          </a:p>
        </p:txBody>
      </p:sp>
      <p:sp>
        <p:nvSpPr>
          <p:cNvPr id="7" name="Text 5"/>
          <p:cNvSpPr/>
          <p:nvPr/>
        </p:nvSpPr>
        <p:spPr>
          <a:xfrm>
            <a:off x="1051084" y="3014901"/>
            <a:ext cx="2977039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Trang chủ</a:t>
            </a:r>
            <a:endParaRPr lang="en-US" sz="2300"/>
          </a:p>
        </p:txBody>
      </p:sp>
      <p:sp>
        <p:nvSpPr>
          <p:cNvPr id="8" name="Shape 6"/>
          <p:cNvSpPr/>
          <p:nvPr/>
        </p:nvSpPr>
        <p:spPr>
          <a:xfrm>
            <a:off x="5216962" y="2447925"/>
            <a:ext cx="4196358" cy="1196340"/>
          </a:xfrm>
          <a:prstGeom prst="roundRect">
            <a:avLst>
              <a:gd name="adj" fmla="val 12229"/>
            </a:avLst>
          </a:prstGeom>
          <a:solidFill>
            <a:srgbClr val="FFFFFF">
              <a:alpha val="95000"/>
            </a:srgbClr>
          </a:solidFill>
        </p:spPr>
        <p:txBody>
          <a:bodyPr/>
          <a:lstStyle/>
          <a:p/>
        </p:txBody>
      </p:sp>
      <p:sp>
        <p:nvSpPr>
          <p:cNvPr id="9" name="Shape 7"/>
          <p:cNvSpPr/>
          <p:nvPr/>
        </p:nvSpPr>
        <p:spPr>
          <a:xfrm>
            <a:off x="5216962" y="2417445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007EBD"/>
          </a:solidFill>
        </p:spPr>
        <p:txBody>
          <a:bodyPr/>
          <a:lstStyle/>
          <a:p/>
        </p:txBody>
      </p:sp>
      <p:sp>
        <p:nvSpPr>
          <p:cNvPr id="10" name="Shape 8"/>
          <p:cNvSpPr/>
          <p:nvPr/>
        </p:nvSpPr>
        <p:spPr>
          <a:xfrm>
            <a:off x="6974860" y="2107763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007EBD"/>
          </a:solidFill>
        </p:spPr>
        <p:txBody>
          <a:bodyPr/>
          <a:lstStyle/>
          <a:p/>
        </p:txBody>
      </p:sp>
      <p:sp>
        <p:nvSpPr>
          <p:cNvPr id="11" name="Text 9"/>
          <p:cNvSpPr/>
          <p:nvPr/>
        </p:nvSpPr>
        <p:spPr>
          <a:xfrm>
            <a:off x="7178933" y="2277904"/>
            <a:ext cx="272177" cy="3401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100"/>
          </a:p>
        </p:txBody>
      </p:sp>
      <p:sp>
        <p:nvSpPr>
          <p:cNvPr id="12" name="Text 10"/>
          <p:cNvSpPr/>
          <p:nvPr/>
        </p:nvSpPr>
        <p:spPr>
          <a:xfrm>
            <a:off x="5474256" y="3014901"/>
            <a:ext cx="2977039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Trang sản phẩm</a:t>
            </a:r>
            <a:endParaRPr lang="en-US" sz="2300"/>
          </a:p>
        </p:txBody>
      </p:sp>
      <p:sp>
        <p:nvSpPr>
          <p:cNvPr id="13" name="Shape 11"/>
          <p:cNvSpPr/>
          <p:nvPr/>
        </p:nvSpPr>
        <p:spPr>
          <a:xfrm>
            <a:off x="9640133" y="2447925"/>
            <a:ext cx="4196358" cy="1196340"/>
          </a:xfrm>
          <a:prstGeom prst="roundRect">
            <a:avLst>
              <a:gd name="adj" fmla="val 12229"/>
            </a:avLst>
          </a:prstGeom>
          <a:solidFill>
            <a:srgbClr val="FFFFFF">
              <a:alpha val="95000"/>
            </a:srgbClr>
          </a:solidFill>
        </p:spPr>
        <p:txBody>
          <a:bodyPr/>
          <a:lstStyle/>
          <a:p/>
        </p:txBody>
      </p:sp>
      <p:sp>
        <p:nvSpPr>
          <p:cNvPr id="14" name="Shape 12"/>
          <p:cNvSpPr/>
          <p:nvPr/>
        </p:nvSpPr>
        <p:spPr>
          <a:xfrm>
            <a:off x="9640133" y="2417445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007EBD"/>
          </a:solidFill>
        </p:spPr>
        <p:txBody>
          <a:bodyPr/>
          <a:lstStyle/>
          <a:p/>
        </p:txBody>
      </p:sp>
      <p:sp>
        <p:nvSpPr>
          <p:cNvPr id="15" name="Shape 13"/>
          <p:cNvSpPr/>
          <p:nvPr/>
        </p:nvSpPr>
        <p:spPr>
          <a:xfrm>
            <a:off x="11398032" y="2107763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007EBD"/>
          </a:solidFill>
        </p:spPr>
        <p:txBody>
          <a:bodyPr/>
          <a:lstStyle/>
          <a:p/>
        </p:txBody>
      </p:sp>
      <p:sp>
        <p:nvSpPr>
          <p:cNvPr id="16" name="Text 14"/>
          <p:cNvSpPr/>
          <p:nvPr/>
        </p:nvSpPr>
        <p:spPr>
          <a:xfrm>
            <a:off x="11602105" y="2277904"/>
            <a:ext cx="272177" cy="3401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2100"/>
          </a:p>
        </p:txBody>
      </p:sp>
      <p:sp>
        <p:nvSpPr>
          <p:cNvPr id="17" name="Text 15"/>
          <p:cNvSpPr/>
          <p:nvPr/>
        </p:nvSpPr>
        <p:spPr>
          <a:xfrm>
            <a:off x="9897427" y="3014901"/>
            <a:ext cx="3222427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Trang chi tiết sản phẩm</a:t>
            </a:r>
            <a:endParaRPr lang="en-US" sz="2300"/>
          </a:p>
        </p:txBody>
      </p:sp>
      <p:sp>
        <p:nvSpPr>
          <p:cNvPr id="18" name="Shape 16"/>
          <p:cNvSpPr/>
          <p:nvPr/>
        </p:nvSpPr>
        <p:spPr>
          <a:xfrm>
            <a:off x="793790" y="4211241"/>
            <a:ext cx="4196358" cy="1196340"/>
          </a:xfrm>
          <a:prstGeom prst="roundRect">
            <a:avLst>
              <a:gd name="adj" fmla="val 12229"/>
            </a:avLst>
          </a:prstGeom>
          <a:solidFill>
            <a:srgbClr val="FFFFFF">
              <a:alpha val="95000"/>
            </a:srgbClr>
          </a:solidFill>
        </p:spPr>
        <p:txBody>
          <a:bodyPr/>
          <a:lstStyle/>
          <a:p/>
        </p:txBody>
      </p:sp>
      <p:sp>
        <p:nvSpPr>
          <p:cNvPr id="19" name="Shape 17"/>
          <p:cNvSpPr/>
          <p:nvPr/>
        </p:nvSpPr>
        <p:spPr>
          <a:xfrm>
            <a:off x="793790" y="4180761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007EBD"/>
          </a:solidFill>
        </p:spPr>
        <p:txBody>
          <a:bodyPr/>
          <a:lstStyle/>
          <a:p/>
        </p:txBody>
      </p:sp>
      <p:sp>
        <p:nvSpPr>
          <p:cNvPr id="20" name="Shape 18"/>
          <p:cNvSpPr/>
          <p:nvPr/>
        </p:nvSpPr>
        <p:spPr>
          <a:xfrm>
            <a:off x="2551688" y="387107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007EBD"/>
          </a:solidFill>
        </p:spPr>
        <p:txBody>
          <a:bodyPr/>
          <a:lstStyle/>
          <a:p/>
        </p:txBody>
      </p:sp>
      <p:sp>
        <p:nvSpPr>
          <p:cNvPr id="21" name="Text 19"/>
          <p:cNvSpPr/>
          <p:nvPr/>
        </p:nvSpPr>
        <p:spPr>
          <a:xfrm>
            <a:off x="2755761" y="4041219"/>
            <a:ext cx="272177" cy="3401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2100"/>
          </a:p>
        </p:txBody>
      </p:sp>
      <p:sp>
        <p:nvSpPr>
          <p:cNvPr id="22" name="Text 20"/>
          <p:cNvSpPr/>
          <p:nvPr/>
        </p:nvSpPr>
        <p:spPr>
          <a:xfrm>
            <a:off x="1051084" y="4778216"/>
            <a:ext cx="2977039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Giỏ hàng</a:t>
            </a:r>
            <a:endParaRPr lang="en-US" sz="2300"/>
          </a:p>
        </p:txBody>
      </p:sp>
      <p:sp>
        <p:nvSpPr>
          <p:cNvPr id="23" name="Shape 21"/>
          <p:cNvSpPr/>
          <p:nvPr/>
        </p:nvSpPr>
        <p:spPr>
          <a:xfrm>
            <a:off x="5216962" y="4211241"/>
            <a:ext cx="4196358" cy="1196340"/>
          </a:xfrm>
          <a:prstGeom prst="roundRect">
            <a:avLst>
              <a:gd name="adj" fmla="val 12229"/>
            </a:avLst>
          </a:prstGeom>
          <a:solidFill>
            <a:srgbClr val="FFFFFF">
              <a:alpha val="95000"/>
            </a:srgbClr>
          </a:solidFill>
        </p:spPr>
        <p:txBody>
          <a:bodyPr/>
          <a:lstStyle/>
          <a:p/>
        </p:txBody>
      </p:sp>
      <p:sp>
        <p:nvSpPr>
          <p:cNvPr id="24" name="Shape 22"/>
          <p:cNvSpPr/>
          <p:nvPr/>
        </p:nvSpPr>
        <p:spPr>
          <a:xfrm>
            <a:off x="5216962" y="4180761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007EBD"/>
          </a:solidFill>
        </p:spPr>
        <p:txBody>
          <a:bodyPr/>
          <a:lstStyle/>
          <a:p/>
        </p:txBody>
      </p:sp>
      <p:sp>
        <p:nvSpPr>
          <p:cNvPr id="25" name="Shape 23"/>
          <p:cNvSpPr/>
          <p:nvPr/>
        </p:nvSpPr>
        <p:spPr>
          <a:xfrm>
            <a:off x="6974860" y="387107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007EBD"/>
          </a:solidFill>
        </p:spPr>
        <p:txBody>
          <a:bodyPr/>
          <a:lstStyle/>
          <a:p/>
        </p:txBody>
      </p:sp>
      <p:sp>
        <p:nvSpPr>
          <p:cNvPr id="26" name="Text 24"/>
          <p:cNvSpPr/>
          <p:nvPr/>
        </p:nvSpPr>
        <p:spPr>
          <a:xfrm>
            <a:off x="7178933" y="4041219"/>
            <a:ext cx="272177" cy="3401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5</a:t>
            </a:r>
            <a:endParaRPr lang="en-US" sz="2100"/>
          </a:p>
        </p:txBody>
      </p:sp>
      <p:sp>
        <p:nvSpPr>
          <p:cNvPr id="27" name="Text 25"/>
          <p:cNvSpPr/>
          <p:nvPr/>
        </p:nvSpPr>
        <p:spPr>
          <a:xfrm>
            <a:off x="5474256" y="4778216"/>
            <a:ext cx="2977039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Thanh toán</a:t>
            </a:r>
            <a:endParaRPr lang="en-US" sz="2300"/>
          </a:p>
        </p:txBody>
      </p:sp>
      <p:sp>
        <p:nvSpPr>
          <p:cNvPr id="28" name="Shape 26"/>
          <p:cNvSpPr/>
          <p:nvPr/>
        </p:nvSpPr>
        <p:spPr>
          <a:xfrm>
            <a:off x="9640133" y="4211241"/>
            <a:ext cx="4196358" cy="1196340"/>
          </a:xfrm>
          <a:prstGeom prst="roundRect">
            <a:avLst>
              <a:gd name="adj" fmla="val 12229"/>
            </a:avLst>
          </a:prstGeom>
          <a:solidFill>
            <a:srgbClr val="FFFFFF">
              <a:alpha val="95000"/>
            </a:srgbClr>
          </a:solidFill>
        </p:spPr>
        <p:txBody>
          <a:bodyPr/>
          <a:lstStyle/>
          <a:p/>
        </p:txBody>
      </p:sp>
      <p:sp>
        <p:nvSpPr>
          <p:cNvPr id="29" name="Shape 27"/>
          <p:cNvSpPr/>
          <p:nvPr/>
        </p:nvSpPr>
        <p:spPr>
          <a:xfrm>
            <a:off x="9640133" y="4180761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007EBD"/>
          </a:solidFill>
        </p:spPr>
        <p:txBody>
          <a:bodyPr/>
          <a:lstStyle/>
          <a:p/>
        </p:txBody>
      </p:sp>
      <p:sp>
        <p:nvSpPr>
          <p:cNvPr id="30" name="Shape 28"/>
          <p:cNvSpPr/>
          <p:nvPr/>
        </p:nvSpPr>
        <p:spPr>
          <a:xfrm>
            <a:off x="11398032" y="387107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007EBD"/>
          </a:solidFill>
        </p:spPr>
        <p:txBody>
          <a:bodyPr/>
          <a:lstStyle/>
          <a:p/>
        </p:txBody>
      </p:sp>
      <p:sp>
        <p:nvSpPr>
          <p:cNvPr id="31" name="Text 29"/>
          <p:cNvSpPr/>
          <p:nvPr/>
        </p:nvSpPr>
        <p:spPr>
          <a:xfrm>
            <a:off x="11602105" y="4041219"/>
            <a:ext cx="272177" cy="3401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6</a:t>
            </a:r>
            <a:endParaRPr lang="en-US" sz="2100"/>
          </a:p>
        </p:txBody>
      </p:sp>
      <p:sp>
        <p:nvSpPr>
          <p:cNvPr id="32" name="Text 30"/>
          <p:cNvSpPr/>
          <p:nvPr/>
        </p:nvSpPr>
        <p:spPr>
          <a:xfrm>
            <a:off x="9897427" y="4778216"/>
            <a:ext cx="2977039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Đăng nhập – Đăng ký</a:t>
            </a:r>
            <a:endParaRPr lang="en-US" sz="2300"/>
          </a:p>
        </p:txBody>
      </p:sp>
      <p:sp>
        <p:nvSpPr>
          <p:cNvPr id="33" name="Shape 31"/>
          <p:cNvSpPr/>
          <p:nvPr/>
        </p:nvSpPr>
        <p:spPr>
          <a:xfrm>
            <a:off x="793790" y="5974556"/>
            <a:ext cx="13042702" cy="1196340"/>
          </a:xfrm>
          <a:prstGeom prst="roundRect">
            <a:avLst>
              <a:gd name="adj" fmla="val 12229"/>
            </a:avLst>
          </a:prstGeom>
          <a:solidFill>
            <a:srgbClr val="FFFFFF">
              <a:alpha val="95000"/>
            </a:srgbClr>
          </a:solidFill>
        </p:spPr>
        <p:txBody>
          <a:bodyPr/>
          <a:lstStyle/>
          <a:p/>
        </p:txBody>
      </p:sp>
      <p:sp>
        <p:nvSpPr>
          <p:cNvPr id="34" name="Shape 32"/>
          <p:cNvSpPr/>
          <p:nvPr/>
        </p:nvSpPr>
        <p:spPr>
          <a:xfrm>
            <a:off x="793790" y="5944076"/>
            <a:ext cx="13042702" cy="121920"/>
          </a:xfrm>
          <a:prstGeom prst="roundRect">
            <a:avLst>
              <a:gd name="adj" fmla="val 78139"/>
            </a:avLst>
          </a:prstGeom>
          <a:solidFill>
            <a:srgbClr val="007EBD"/>
          </a:solidFill>
        </p:spPr>
        <p:txBody>
          <a:bodyPr/>
          <a:lstStyle/>
          <a:p/>
        </p:txBody>
      </p:sp>
      <p:sp>
        <p:nvSpPr>
          <p:cNvPr id="35" name="Shape 33"/>
          <p:cNvSpPr/>
          <p:nvPr/>
        </p:nvSpPr>
        <p:spPr>
          <a:xfrm>
            <a:off x="6974860" y="5634395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007EBD"/>
          </a:solidFill>
        </p:spPr>
        <p:txBody>
          <a:bodyPr/>
          <a:lstStyle/>
          <a:p/>
        </p:txBody>
      </p:sp>
      <p:sp>
        <p:nvSpPr>
          <p:cNvPr id="36" name="Text 34"/>
          <p:cNvSpPr/>
          <p:nvPr/>
        </p:nvSpPr>
        <p:spPr>
          <a:xfrm>
            <a:off x="7178933" y="5804535"/>
            <a:ext cx="272177" cy="3401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7</a:t>
            </a:r>
            <a:endParaRPr lang="en-US" sz="2100"/>
          </a:p>
        </p:txBody>
      </p:sp>
      <p:sp>
        <p:nvSpPr>
          <p:cNvPr id="37" name="Text 35"/>
          <p:cNvSpPr/>
          <p:nvPr/>
        </p:nvSpPr>
        <p:spPr>
          <a:xfrm>
            <a:off x="1051084" y="6541532"/>
            <a:ext cx="2977039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Tài khoản người dùng</a:t>
            </a:r>
            <a:endParaRPr lang="en-US" sz="2300"/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4.0.30319.42000"/>
  <p:tag name="AS_OS" val="Microsoft Windows NT 10.0.14393.0"/>
  <p:tag name="AS_RELEASE_DATE" val="2019.12.14"/>
  <p:tag name="AS_TITLE" val="Aspose.Slides for .NET 4.0 Client Profile"/>
  <p:tag name="AS_VERSION" val="19.1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(16:9)</PresentationFormat>
  <Paragraphs>67</Paragraphs>
  <Slides>10</Slides>
  <Notes>10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baseType="lpstr" size="16">
      <vt:lpstr>Arial</vt:lpstr>
      <vt:lpstr>Calibri Light</vt:lpstr>
      <vt:lpstr>Calibri</vt:lpstr>
      <vt:lpstr>Petrona Bold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19.1200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dcterms:created xsi:type="dcterms:W3CDTF">2026-01-05T07:37:27Z</dcterms:created>
  <dcterms:modified xsi:type="dcterms:W3CDTF">2026-01-05T07:41:29Z</dcterms:modified>
</cp:coreProperties>
</file>